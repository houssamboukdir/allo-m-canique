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20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Relationship Id="rId8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Relationship Id="rId6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38160" y="-914400"/>
            <a:ext cx="5303520" cy="5303520"/>
          </a:xfrm>
          <a:prstGeom prst="arc">
            <a:avLst/>
          </a:prstGeom>
          <a:noFill/>
          <a:ln w="228600">
            <a:solidFill>
              <a:srgbClr val="1264F6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326880" y="4206240"/>
            <a:ext cx="3474720" cy="3474720"/>
          </a:xfrm>
          <a:prstGeom prst="arc">
            <a:avLst/>
          </a:prstGeom>
          <a:noFill/>
          <a:ln w="165100">
            <a:solidFill>
              <a:srgbClr val="38BDF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58368" y="64008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1264F6"/>
          </a:solidFill>
          <a:ln w="12700">
            <a:solidFill>
              <a:srgbClr val="1264F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7132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PFE • Développement Digital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</a:rPr>
              <a:t>Allo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</a:rPr>
              <a:t>Mécanique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713232" y="29626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F"/>
                </a:solidFill>
              </a:rPr>
              <a:t>Plateforme Web d’Assistance Mécanique en Ligne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345643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7C8E8"/>
                </a:solidFill>
              </a:rPr>
              <a:t>Mise en relation rapide entre conducteurs en panne et mécaniciens disponibles à proximité.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" y="4800600"/>
            <a:ext cx="4572000" cy="777240"/>
          </a:xfrm>
          <a:prstGeom prst="roundRect">
            <a:avLst>
              <a:gd name="adj" fmla="val 14118"/>
            </a:avLst>
          </a:prstGeom>
          <a:solidFill>
            <a:srgbClr val="0E2752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32688" y="49926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6F0FF"/>
                </a:solidFill>
              </a:rPr>
              <a:t>Réalisé par : Houssam BOUKDIR &amp; Achraf FOUAD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0FF"/>
                </a:solidFill>
              </a:rPr>
              <a:t>Encadrant : Mr. Kamal DAOUDI • OFPPT 2025–2026</a:t>
            </a:r>
            <a:endParaRPr lang="en-US" sz="1050" dirty="0"/>
          </a:p>
        </p:txBody>
      </p:sp>
      <p:pic>
        <p:nvPicPr>
          <p:cNvPr id="12" name="Image 0" descr="/mnt/data/allo_assets/7c9d09dafb9684a2f2247c53ba96e74047faf02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417320"/>
            <a:ext cx="4892040" cy="24231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989320" y="1097280"/>
            <a:ext cx="5349240" cy="2971800"/>
          </a:xfrm>
          <a:prstGeom prst="roundRect">
            <a:avLst>
              <a:gd name="adj" fmla="val 7692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881360" y="63367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B7"/>
                </a:solidFill>
              </a:rPr>
              <a:t>01/14</a:t>
            </a:r>
            <a:endParaRPr lang="en-US" sz="800" dirty="0"/>
          </a:p>
        </p:txBody>
      </p:sp>
      <p:pic>
        <p:nvPicPr>
          <p:cNvPr id="15" name="Picture 14" descr="Logo_ofppt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32004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71533"/>
                </a:solidFill>
              </a:rPr>
              <a:t>Contexte &amp; problématique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005840" cy="0"/>
          </a:xfrm>
          <a:prstGeom prst="line">
            <a:avLst/>
          </a:prstGeom>
          <a:noFill/>
          <a:ln w="38100">
            <a:solidFill>
              <a:srgbClr val="1264F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0332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 besoin : trouver vite une assistance fiable en situation de panne.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Allo Mécanique • PFE OFPPT 2025–2026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03/14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1533"/>
                </a:solidFill>
              </a:rPr>
              <a:t>Constat terrain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30632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Panne imprévisible sur route ou autoroute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Difficulté à identifier un mécanicien disponible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Manque d’organisation et de traçabilité des demandes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Risque de stress, retard et insécurité pour le conducteur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6583680" cy="4297680"/>
          </a:xfrm>
          <a:prstGeom prst="roundRect">
            <a:avLst>
              <a:gd name="adj" fmla="val 2553"/>
            </a:avLst>
          </a:prstGeom>
          <a:solidFill>
            <a:srgbClr val="EFF6FF"/>
          </a:solidFill>
          <a:ln w="12700">
            <a:solidFill>
              <a:srgbClr val="D4E6FF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10912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1533"/>
                </a:solidFill>
              </a:rPr>
              <a:t>Question centrale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10912" y="2331720"/>
            <a:ext cx="54406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</a:rPr>
              <a:t>Comment permettre à un conducteur en panne de trouver et contacter rapidement un mécanicien disponible, tout en offrant aux mécaniciens un outil simple pour gérer les demandes d’intervention 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010912" y="4160520"/>
            <a:ext cx="16459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7E6FB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193792" y="4370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533"/>
                </a:solidFill>
              </a:rPr>
              <a:t>Besoin urgent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31152" y="4160520"/>
            <a:ext cx="16459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7E6FB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114032" y="4370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533"/>
                </a:solidFill>
              </a:rPr>
              <a:t>Localisation GPS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51392" y="4160520"/>
            <a:ext cx="16459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7E6FB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034272" y="4370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533"/>
                </a:solidFill>
              </a:rPr>
              <a:t>Mécanicien proche</a:t>
            </a:r>
            <a:endParaRPr lang="en-US" sz="1050" dirty="0"/>
          </a:p>
        </p:txBody>
      </p:sp>
      <p:pic>
        <p:nvPicPr>
          <p:cNvPr id="19" name="Picture 18" descr="Logo_ofppt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71533"/>
                </a:solidFill>
              </a:rPr>
              <a:t>Objectifs du projet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005840" cy="0"/>
          </a:xfrm>
          <a:prstGeom prst="line">
            <a:avLst/>
          </a:prstGeom>
          <a:noFill/>
          <a:ln w="38100">
            <a:solidFill>
              <a:srgbClr val="1264F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0332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Une plateforme simple, rapide et sécurisée pour trois profils utilisateurs.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Allo Mécanique • PFE OFPPT 2025–2026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04/14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18745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🚗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19019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533"/>
                </a:solidFill>
              </a:rPr>
              <a:t>Client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2606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Soumettre une demande d’assistance avec position GPS.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91640" y="4160520"/>
            <a:ext cx="1417320" cy="329184"/>
          </a:xfrm>
          <a:prstGeom prst="roundRect">
            <a:avLst>
              <a:gd name="adj" fmla="val 27778"/>
            </a:avLst>
          </a:prstGeom>
          <a:solidFill>
            <a:srgbClr val="1264F6"/>
          </a:solidFill>
          <a:ln w="12700">
            <a:solidFill>
              <a:srgbClr val="1264F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828800" y="4233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Rôle principal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26280" y="155448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54880" y="18745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94960" y="19019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533"/>
                </a:solidFill>
              </a:rPr>
              <a:t>Mécanicien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2606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Consulter, accepter puis clôturer les interventions.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0" y="4160520"/>
            <a:ext cx="1417320" cy="329184"/>
          </a:xfrm>
          <a:prstGeom prst="roundRect">
            <a:avLst>
              <a:gd name="adj" fmla="val 27778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623560" y="4233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Rôle principal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321040" y="155448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549640" y="18745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89720" y="19019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533"/>
                </a:solidFill>
              </a:rPr>
              <a:t>Admin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41080" y="2606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Valider les mécaniciens et superviser les utilisateurs.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281160" y="4160520"/>
            <a:ext cx="1417320" cy="329184"/>
          </a:xfrm>
          <a:prstGeom prst="roundRect">
            <a:avLst>
              <a:gd name="adj" fmla="val 2777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418320" y="4233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Rôle principal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0" y="5486400"/>
            <a:ext cx="8503920" cy="566928"/>
          </a:xfrm>
          <a:prstGeom prst="roundRect">
            <a:avLst>
              <a:gd name="adj" fmla="val 19355"/>
            </a:avLst>
          </a:prstGeom>
          <a:solidFill>
            <a:srgbClr val="E8F2FF"/>
          </a:solidFill>
          <a:ln w="12700">
            <a:solidFill>
              <a:srgbClr val="CFE3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103120" y="5669280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4ED8"/>
                </a:solidFill>
              </a:rPr>
              <a:t>Objectif global : faciliter la mise en relation rapide entre conducteur en panne et mécanicien certifié.</a:t>
            </a:r>
            <a:endParaRPr lang="en-US" sz="1250" dirty="0"/>
          </a:p>
        </p:txBody>
      </p:sp>
      <p:pic>
        <p:nvPicPr>
          <p:cNvPr id="27" name="Picture 26" descr="Logo_ofppt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71533"/>
                </a:solidFill>
              </a:rPr>
              <a:t>Solution proposée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005840" cy="0"/>
          </a:xfrm>
          <a:prstGeom prst="line">
            <a:avLst/>
          </a:prstGeom>
          <a:noFill/>
          <a:ln w="38100">
            <a:solidFill>
              <a:srgbClr val="1264F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0332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parcours digital clair basé sur la géolocalisation et des demandes d’intervention.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Allo Mécanique • PFE OFPPT 2025–2026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05/14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331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508760" y="2057400"/>
            <a:ext cx="731520" cy="731520"/>
          </a:xfrm>
          <a:prstGeom prst="ellipse">
            <a:avLst/>
          </a:prstGeom>
          <a:solidFill>
            <a:srgbClr val="1264F6"/>
          </a:solidFill>
          <a:ln w="12700">
            <a:solidFill>
              <a:srgbClr val="1264F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08760" y="22402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9718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1533"/>
                </a:solidFill>
              </a:rPr>
              <a:t>Inscription / Connexion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3291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Client, mécanicien et administrateur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90672" y="2532888"/>
            <a:ext cx="320040" cy="320040"/>
          </a:xfrm>
          <a:prstGeom prst="chevron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520440" y="1828800"/>
            <a:ext cx="2331720" cy="2011680"/>
          </a:xfrm>
          <a:prstGeom prst="roundRect">
            <a:avLst>
              <a:gd name="adj" fmla="val 5455"/>
            </a:avLst>
          </a:prstGeom>
          <a:solidFill>
            <a:srgbClr val="F0F7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297680" y="2057400"/>
            <a:ext cx="731520" cy="731520"/>
          </a:xfrm>
          <a:prstGeom prst="ellipse">
            <a:avLst/>
          </a:prstGeom>
          <a:solidFill>
            <a:srgbClr val="1264F6"/>
          </a:solidFill>
          <a:ln w="12700">
            <a:solidFill>
              <a:srgbClr val="1264F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297680" y="22402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49040" y="29718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1533"/>
                </a:solidFill>
              </a:rPr>
              <a:t>Demande + position GPS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94760" y="3291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Le client décrit son problème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79592" y="2532888"/>
            <a:ext cx="320040" cy="320040"/>
          </a:xfrm>
          <a:prstGeom prst="chevron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2331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086600" y="2057400"/>
            <a:ext cx="731520" cy="731520"/>
          </a:xfrm>
          <a:prstGeom prst="ellipse">
            <a:avLst/>
          </a:prstGeom>
          <a:solidFill>
            <a:srgbClr val="1264F6"/>
          </a:solidFill>
          <a:ln w="12700">
            <a:solidFill>
              <a:srgbClr val="1264F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086600" y="22402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29718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1533"/>
                </a:solidFill>
              </a:rPr>
              <a:t>Acceptation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3291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Le mécanicien prend en charge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68512" y="2532888"/>
            <a:ext cx="320040" cy="320040"/>
          </a:xfrm>
          <a:prstGeom prst="chevron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098280" y="1828800"/>
            <a:ext cx="2331720" cy="2011680"/>
          </a:xfrm>
          <a:prstGeom prst="roundRect">
            <a:avLst>
              <a:gd name="adj" fmla="val 5455"/>
            </a:avLst>
          </a:prstGeom>
          <a:solidFill>
            <a:srgbClr val="F0F7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875520" y="2057400"/>
            <a:ext cx="731520" cy="731520"/>
          </a:xfrm>
          <a:prstGeom prst="ellipse">
            <a:avLst/>
          </a:prstGeom>
          <a:solidFill>
            <a:srgbClr val="1264F6"/>
          </a:solidFill>
          <a:ln w="12700">
            <a:solidFill>
              <a:srgbClr val="1264F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875520" y="22402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26880" y="29718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1533"/>
                </a:solidFill>
              </a:rPr>
              <a:t>Clôture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372600" y="3291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Statut terminé et suivi de l’intervention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51560" y="4709160"/>
            <a:ext cx="10058400" cy="822960"/>
          </a:xfrm>
          <a:prstGeom prst="roundRect">
            <a:avLst>
              <a:gd name="adj" fmla="val 13333"/>
            </a:avLst>
          </a:prstGeom>
          <a:solidFill>
            <a:srgbClr val="071533"/>
          </a:solidFill>
          <a:ln w="12700">
            <a:solidFill>
              <a:srgbClr val="07153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463040" y="4983480"/>
            <a:ext cx="9235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Modules : Client • Mécanicien • Administrateur • Cartographie Leaflet/OpenStreetMap • Authentification Sanctum</a:t>
            </a:r>
            <a:endParaRPr lang="en-US" sz="1250" dirty="0"/>
          </a:p>
        </p:txBody>
      </p:sp>
      <p:pic>
        <p:nvPicPr>
          <p:cNvPr id="32" name="Picture 31" descr="Logo_ofppt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71533"/>
                </a:solidFill>
              </a:rPr>
              <a:t>Architecture générale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005840" cy="0"/>
          </a:xfrm>
          <a:prstGeom prst="line">
            <a:avLst/>
          </a:prstGeom>
          <a:noFill/>
          <a:ln w="38100">
            <a:solidFill>
              <a:srgbClr val="1264F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0332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Une architecture client–serveur avec API RESTful.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Allo Mécanique • PFE OFPPT 2025–2026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06/14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10698480" cy="1600200"/>
          </a:xfrm>
          <a:prstGeom prst="roundRect">
            <a:avLst>
              <a:gd name="adj" fmla="val 6857"/>
            </a:avLst>
          </a:prstGeom>
          <a:solidFill>
            <a:srgbClr val="EAF3FF"/>
          </a:solidFill>
          <a:ln w="12700">
            <a:solidFill>
              <a:srgbClr val="CBE0FF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1645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533"/>
                </a:solidFill>
              </a:rPr>
              <a:t>NAVIGATEUR WEB — React (Vite)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2157984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BFD7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2322576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Client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2157984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BFD7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069080" y="2322576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Mécanicien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2157984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BFD7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132320" y="2322576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Administrateur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3072384"/>
            <a:ext cx="548640" cy="548640"/>
          </a:xfrm>
          <a:prstGeom prst="downArrow">
            <a:avLst/>
          </a:prstGeom>
          <a:solidFill>
            <a:srgbClr val="1264F6"/>
          </a:solidFill>
          <a:ln w="12700">
            <a:solidFill>
              <a:srgbClr val="1264F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92040" y="28803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HTTP / REST API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74520" y="3657600"/>
            <a:ext cx="8503920" cy="896112"/>
          </a:xfrm>
          <a:prstGeom prst="roundRect">
            <a:avLst>
              <a:gd name="adj" fmla="val 12245"/>
            </a:avLst>
          </a:prstGeom>
          <a:solidFill>
            <a:srgbClr val="071533"/>
          </a:solidFill>
          <a:ln w="12700">
            <a:solidFill>
              <a:srgbClr val="071533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148840" y="3822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SERVEUR BACK-END — Laravel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85876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0FF"/>
                </a:solidFill>
              </a:rPr>
              <a:t>Routes API • Contrôleurs • Sanctum Auth • Eloquent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4645152"/>
            <a:ext cx="548640" cy="502920"/>
          </a:xfrm>
          <a:prstGeom prst="down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880360" y="5257800"/>
            <a:ext cx="6492240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2700">
            <a:solidFill>
              <a:srgbClr val="CFE0FF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154680" y="54681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533"/>
                </a:solidFill>
              </a:rPr>
              <a:t>BASE DE DONNÉES — MySQL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97880" y="54864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users • mechanics • requests</a:t>
            </a:r>
            <a:endParaRPr lang="en-US" sz="1100" dirty="0"/>
          </a:p>
        </p:txBody>
      </p:sp>
      <p:pic>
        <p:nvPicPr>
          <p:cNvPr id="24" name="Picture 23" descr="Logo_ofppt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71533"/>
                </a:solidFill>
              </a:rPr>
              <a:t>Technologies utilisées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005840" cy="0"/>
          </a:xfrm>
          <a:prstGeom prst="line">
            <a:avLst/>
          </a:prstGeom>
          <a:noFill/>
          <a:ln w="38100">
            <a:solidFill>
              <a:srgbClr val="1264F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0332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 choix des outils répond aux besoins de performance, sécurité et géolocalisation.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Allo Mécanique • PFE OFPPT 2025–2026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07/14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0120" y="1709928"/>
            <a:ext cx="1143000" cy="329184"/>
          </a:xfrm>
          <a:prstGeom prst="roundRect">
            <a:avLst>
              <a:gd name="adj" fmla="val 27778"/>
            </a:avLst>
          </a:prstGeom>
          <a:solidFill>
            <a:srgbClr val="1264F6"/>
          </a:solidFill>
          <a:ln w="12700">
            <a:solidFill>
              <a:srgbClr val="1264F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97280" y="178308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Front-end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60120" y="21762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533"/>
                </a:solidFill>
              </a:rPr>
              <a:t>React + Vite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4780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Interface dynamique, composants réutilisables, build rapide.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150876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709160" y="1709928"/>
            <a:ext cx="1143000" cy="329184"/>
          </a:xfrm>
          <a:prstGeom prst="roundRect">
            <a:avLst>
              <a:gd name="adj" fmla="val 27778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46320" y="178308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Back-end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09160" y="21762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533"/>
                </a:solidFill>
              </a:rPr>
              <a:t>Laravel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09160" y="24780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API REST, contrôleurs, modèles Eloquent, logique métier.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0" y="150876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458200" y="1709928"/>
            <a:ext cx="1143000" cy="329184"/>
          </a:xfrm>
          <a:prstGeom prst="roundRect">
            <a:avLst>
              <a:gd name="adj" fmla="val 27778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95360" y="178308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Database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58200" y="21762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533"/>
                </a:solidFill>
              </a:rPr>
              <a:t>MySQL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58200" y="24780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Stockage relationnel des utilisateurs, mécaniciens et demandes.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06040" y="406908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834640" y="4270248"/>
            <a:ext cx="1143000" cy="329184"/>
          </a:xfrm>
          <a:prstGeom prst="roundRect">
            <a:avLst>
              <a:gd name="adj" fmla="val 27778"/>
            </a:avLst>
          </a:prstGeom>
          <a:solidFill>
            <a:srgbClr val="9333EA"/>
          </a:solidFill>
          <a:ln w="12700">
            <a:solidFill>
              <a:srgbClr val="933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971800" y="434340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Sécurité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34640" y="47365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533"/>
                </a:solidFill>
              </a:rPr>
              <a:t>Laravel Sanctum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834640" y="50383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Authentification par token et protection des routes API.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55080" y="406908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583680" y="4270248"/>
            <a:ext cx="1143000" cy="329184"/>
          </a:xfrm>
          <a:prstGeom prst="roundRect">
            <a:avLst>
              <a:gd name="adj" fmla="val 27778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720840" y="434340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Cartographie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83680" y="47365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533"/>
                </a:solidFill>
              </a:rPr>
              <a:t>Leaflet / OSM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83680" y="50383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Carte interactive et gestion de la localisation GPS.</a:t>
            </a:r>
            <a:endParaRPr lang="en-US" sz="950" dirty="0"/>
          </a:p>
        </p:txBody>
      </p:sp>
      <p:pic>
        <p:nvPicPr>
          <p:cNvPr id="32" name="Picture 31" descr="Logo_ofppt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71533"/>
                </a:solidFill>
              </a:rPr>
              <a:t>Analyse &amp; conception UML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005840" cy="0"/>
          </a:xfrm>
          <a:prstGeom prst="line">
            <a:avLst/>
          </a:prstGeom>
          <a:noFill/>
          <a:ln w="38100">
            <a:solidFill>
              <a:srgbClr val="1264F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0332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Vue fonctionnelle et structure de données principales.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Allo Mécanique • PFE OFPPT 2025–2026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08/14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8" name="Image 0" descr="/mnt/data/allo_assets/11a5ccc9d783fe81376b81739fb1a53607d377a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1600200"/>
            <a:ext cx="2057400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154680" y="2011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533"/>
                </a:solidFill>
              </a:rPr>
              <a:t>Cas d’utilisation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154680" y="2514600"/>
            <a:ext cx="21488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Client : créer et suivre une demande</a:t>
            </a:r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Mécanicien : accepter / clôturer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Admin : valider et gérer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12" name="Image 1" descr="/mnt/data/allo_assets/1043aca47a42fc3bb49e92f7dbf73ead2a91f2c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6520" y="1691640"/>
            <a:ext cx="2468880" cy="32461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06840" y="2011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533"/>
                </a:solidFill>
              </a:rPr>
              <a:t>Classes principales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9006840" y="2514600"/>
            <a:ext cx="21488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User : rôle et informations</a:t>
            </a:r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Mechanic : spécialité, disponibilité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Request : client, mécanicien, GPS, statut</a:t>
            </a:r>
            <a:endParaRPr lang="en-US" sz="1050" dirty="0"/>
          </a:p>
        </p:txBody>
      </p:sp>
      <p:pic>
        <p:nvPicPr>
          <p:cNvPr id="15" name="Picture 14" descr="Logo_ofppt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228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71533"/>
                </a:solidFill>
              </a:rPr>
              <a:t>Scénarios principaux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005840" cy="0"/>
          </a:xfrm>
          <a:prstGeom prst="line">
            <a:avLst/>
          </a:prstGeom>
          <a:noFill/>
          <a:ln w="38100">
            <a:solidFill>
              <a:srgbClr val="1264F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0332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Les diagrammes de séquence valident le comportement attendu.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Allo Mécanique • PFE OFPPT 2025–2026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09/14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52704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533"/>
                </a:solidFill>
              </a:rPr>
              <a:t>Connexion</a:t>
            </a:r>
            <a:endParaRPr lang="en-US" sz="1200" dirty="0"/>
          </a:p>
        </p:txBody>
      </p:sp>
      <p:pic>
        <p:nvPicPr>
          <p:cNvPr id="9" name="Image 0" descr="/mnt/data/allo_assets/99bef56e758c4f3005875d85e970931796f3fbc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828800"/>
            <a:ext cx="2971800" cy="1508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16552" y="137160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645152" y="152704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533"/>
                </a:solidFill>
              </a:rPr>
              <a:t>Créer demande</a:t>
            </a:r>
            <a:endParaRPr lang="en-US" sz="1200" dirty="0"/>
          </a:p>
        </p:txBody>
      </p:sp>
      <p:pic>
        <p:nvPicPr>
          <p:cNvPr id="12" name="Image 1" descr="/mnt/data/allo_assets/735346fd6e9e82e592b6438ebd12d3d91bd967c8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45152" y="1828800"/>
            <a:ext cx="2971800" cy="15087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330184" y="137160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8558784" y="152704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533"/>
                </a:solidFill>
              </a:rPr>
              <a:t>Accepter demande</a:t>
            </a:r>
            <a:endParaRPr lang="en-US" sz="1200" dirty="0"/>
          </a:p>
        </p:txBody>
      </p:sp>
      <p:pic>
        <p:nvPicPr>
          <p:cNvPr id="15" name="Image 2" descr="/mnt/data/allo_assets/f7b870852d1f5867694e115d4df4fb24fc08f68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58784" y="1828800"/>
            <a:ext cx="2971800" cy="15087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397764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731520" y="413308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533"/>
                </a:solidFill>
              </a:rPr>
              <a:t>Valider mécanicien</a:t>
            </a:r>
            <a:endParaRPr lang="en-US" sz="1200" dirty="0"/>
          </a:p>
        </p:txBody>
      </p:sp>
      <p:pic>
        <p:nvPicPr>
          <p:cNvPr id="18" name="Image 3" descr="/mnt/data/allo_assets/d1dee846889c835e70967bbc5c1dc2ea4b9c5000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1520" y="4434840"/>
            <a:ext cx="2971800" cy="1508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416552" y="397764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Text 14"/>
          <p:cNvSpPr/>
          <p:nvPr/>
        </p:nvSpPr>
        <p:spPr>
          <a:xfrm>
            <a:off x="4645152" y="413308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533"/>
                </a:solidFill>
              </a:rPr>
              <a:t>Clôturer demande</a:t>
            </a:r>
            <a:endParaRPr lang="en-US" sz="1200" dirty="0"/>
          </a:p>
        </p:txBody>
      </p:sp>
      <p:pic>
        <p:nvPicPr>
          <p:cNvPr id="21" name="Image 4" descr="/mnt/data/allo_assets/2b52861c0045c5eec0f98873c749798476580a7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45152" y="4434840"/>
            <a:ext cx="2971800" cy="150876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3657600" y="3456432"/>
            <a:ext cx="457200" cy="301752"/>
          </a:xfrm>
          <a:prstGeom prst="chevron">
            <a:avLst/>
          </a:prstGeom>
          <a:solidFill>
            <a:srgbClr val="1264F6"/>
          </a:solidFill>
          <a:ln w="12700">
            <a:solidFill>
              <a:srgbClr val="1264F6"/>
            </a:solidFill>
            <a:prstDash val="solid"/>
          </a:ln>
        </p:spPr>
        <p:txBody>
          <a:bodyPr/>
          <a:p/>
        </p:txBody>
      </p:sp>
      <p:sp>
        <p:nvSpPr>
          <p:cNvPr id="23" name="Shape 16"/>
          <p:cNvSpPr/>
          <p:nvPr/>
        </p:nvSpPr>
        <p:spPr>
          <a:xfrm>
            <a:off x="7571232" y="3456432"/>
            <a:ext cx="457200" cy="301752"/>
          </a:xfrm>
          <a:prstGeom prst="chevron">
            <a:avLst/>
          </a:prstGeom>
          <a:solidFill>
            <a:srgbClr val="1264F6"/>
          </a:solidFill>
          <a:ln w="12700">
            <a:solidFill>
              <a:srgbClr val="1264F6"/>
            </a:solidFill>
            <a:prstDash val="solid"/>
          </a:ln>
        </p:spPr>
        <p:txBody>
          <a:bodyPr/>
          <a:p/>
        </p:txBody>
      </p:sp>
      <p:pic>
        <p:nvPicPr>
          <p:cNvPr id="24" name="Picture 23" descr="Logo_ofppt(1)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0" y="228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71533"/>
                </a:solidFill>
              </a:rPr>
              <a:t>Interfaces utilisateur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005840" cy="0"/>
          </a:xfrm>
          <a:prstGeom prst="line">
            <a:avLst/>
          </a:prstGeom>
          <a:noFill/>
          <a:ln w="38100">
            <a:solidFill>
              <a:srgbClr val="1264F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0332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design clair pour faciliter l’accès aux services.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Allo Mécanique • PFE OFPPT 2025–2026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10/14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8" name="Image 0" descr="/mnt/data/allo_assets/7c9d09dafb9684a2f2247c53ba96e74047faf02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691640"/>
            <a:ext cx="4937760" cy="23957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297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533"/>
                </a:solidFill>
              </a:rPr>
              <a:t>Page d’accueil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4645152"/>
            <a:ext cx="44805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Message principal : trouver un mécanicien proche</a:t>
            </a:r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Recherche par ville + CTA clair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Design moderne et rassurant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0" y="1417320"/>
            <a:ext cx="51206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12" name="Image 1" descr="/mnt/data/allo_assets/c3be2bac39c0335d57270e9da0e766472f47254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9400" y="1664208"/>
            <a:ext cx="2103120" cy="1325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61120" y="19019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533"/>
                </a:solidFill>
              </a:rPr>
              <a:t>Connexion sécurisée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961120" y="2331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Sélection du rôle et génération du token via Laravel Sanctum.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0" y="379476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16" name="Image 2" descr="/mnt/data/allo_assets/b05b5c6ffde0d554de3fbed02e7e6ad4dc8ddf7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29400" y="4041648"/>
            <a:ext cx="2057400" cy="1417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42976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533"/>
                </a:solidFill>
              </a:rPr>
              <a:t>Inscription Client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961120" y="471830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Collecte des informations essentielles : nom, email, téléphone, ville et adresse.</a:t>
            </a:r>
            <a:endParaRPr lang="en-US" sz="1050" dirty="0"/>
          </a:p>
        </p:txBody>
      </p:sp>
      <p:pic>
        <p:nvPicPr>
          <p:cNvPr id="19" name="Picture 18" descr="Logo_ofppt(1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228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71533"/>
                </a:solidFill>
              </a:rPr>
              <a:t>Fonctionnalités clés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005840" cy="0"/>
          </a:xfrm>
          <a:prstGeom prst="line">
            <a:avLst/>
          </a:prstGeom>
          <a:noFill/>
          <a:ln w="38100">
            <a:solidFill>
              <a:srgbClr val="1264F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0332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carte et les tableaux de bord structurent l’expérience métier.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Allo Mécanique • PFE OFPPT 2025–2026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11/14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8" name="Image 0" descr="/mnt/data/allo_assets/adb86498b40586fa0c32205202a93dc4c23ea2d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645920"/>
            <a:ext cx="2331720" cy="1920240"/>
          </a:xfrm>
          <a:prstGeom prst="rect">
            <a:avLst/>
          </a:prstGeom>
        </p:spPr>
      </p:pic>
      <p:pic>
        <p:nvPicPr>
          <p:cNvPr id="9" name="Image 1" descr="/mnt/data/allo_assets/7d3cebbfa7a89faf288cc4759ab7bb0291604b5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4400" y="3749040"/>
            <a:ext cx="2331720" cy="1325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1828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533"/>
                </a:solidFill>
              </a:rPr>
              <a:t>Mécanicien &amp; carte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74720" y="2304288"/>
            <a:ext cx="22402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11827"/>
                </a:solidFill>
              </a:rPr>
              <a:t>• Inscription mécanicien enrichie : CIN, spécialité, expérience, garage</a:t>
            </a:r>
            <a:pPr indent="0" marL="0">
              <a:buNone/>
            </a:pPr>
            <a:r>
              <a:rPr lang="en-US" sz="1030" dirty="0">
                <a:solidFill>
                  <a:srgbClr val="111827"/>
                </a:solidFill>
              </a:rPr>
              <a:t>• Localisation exacte avec Leaflet/OpenStreetMap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11827"/>
                </a:solidFill>
              </a:rPr>
              <a:t>• Affichage des mécaniciens disponibles sur la carte</a:t>
            </a:r>
            <a:endParaRPr lang="en-US" sz="1030" dirty="0"/>
          </a:p>
        </p:txBody>
      </p:sp>
      <p:sp>
        <p:nvSpPr>
          <p:cNvPr id="12" name="Shape 8"/>
          <p:cNvSpPr/>
          <p:nvPr/>
        </p:nvSpPr>
        <p:spPr>
          <a:xfrm>
            <a:off x="6537960" y="1371600"/>
            <a:ext cx="4937760" cy="4480560"/>
          </a:xfrm>
          <a:prstGeom prst="roundRect">
            <a:avLst>
              <a:gd name="adj" fmla="val 2449"/>
            </a:avLst>
          </a:prstGeom>
          <a:solidFill>
            <a:srgbClr val="071533"/>
          </a:solidFill>
          <a:ln w="12700">
            <a:solidFill>
              <a:srgbClr val="071533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903720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Tableaux de bord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903720" y="2331720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0E2752"/>
          </a:solidFill>
          <a:ln w="12700">
            <a:solidFill>
              <a:srgbClr val="264A87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78040" y="251460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Client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366760" y="251460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E7FF"/>
                </a:solidFill>
              </a:rPr>
              <a:t>Soumission et suivi des demandes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903720" y="3291840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0E2752"/>
          </a:solidFill>
          <a:ln w="12700">
            <a:solidFill>
              <a:srgbClr val="264A87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78040" y="34747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Mécanicien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366760" y="347472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E7FF"/>
                </a:solidFill>
              </a:rPr>
              <a:t>Demandes disponibles, acceptation, clôture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903720" y="4251960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0E2752"/>
          </a:solidFill>
          <a:ln w="12700">
            <a:solidFill>
              <a:srgbClr val="264A87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78040" y="44348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Admin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8366760" y="443484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E7FF"/>
                </a:solidFill>
              </a:rPr>
              <a:t>Validation mécaniciens, gestion utilisateurs</a:t>
            </a:r>
            <a:endParaRPr lang="en-US" sz="1000" dirty="0"/>
          </a:p>
        </p:txBody>
      </p:sp>
      <p:pic>
        <p:nvPicPr>
          <p:cNvPr id="23" name="Picture 22" descr="Logo_ofppt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228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71533"/>
                </a:solidFill>
              </a:rPr>
              <a:t>API REST &amp; sécurité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005840" cy="0"/>
          </a:xfrm>
          <a:prstGeom prst="line">
            <a:avLst/>
          </a:prstGeom>
          <a:noFill/>
          <a:ln w="38100">
            <a:solidFill>
              <a:srgbClr val="1264F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0332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Des routes structurées et protégées selon le profil utilisateur.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Allo Mécanique • PFE OFPPT 2025–2026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12/14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6400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1783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1533"/>
                </a:solidFill>
              </a:rPr>
              <a:t>Principales routes API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POST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28800" y="2331720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/api/register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17720" y="23317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Inscription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05840" y="2596896"/>
            <a:ext cx="5577840" cy="0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770632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POST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28800" y="2770632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/api/login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17720" y="27706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Connexion + token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05840" y="3035808"/>
            <a:ext cx="5577840" cy="0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3209544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GET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28800" y="3209544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/api/requests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17720" y="320954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Liste des demandes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05840" y="3474720"/>
            <a:ext cx="5577840" cy="0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3648456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POST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828800" y="3648456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/api/requests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17720" y="364845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Création demande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05840" y="3913632"/>
            <a:ext cx="5577840" cy="0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05840" y="4087368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PUT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28800" y="4087368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/api/requests/{id}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17720" y="4087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Mise à jour statut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05840" y="4352544"/>
            <a:ext cx="5577840" cy="0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05840" y="452628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PUT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828800" y="4526280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/api/mechanics/{id}/validate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17720" y="45262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Validation admin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05840" y="4791456"/>
            <a:ext cx="5577840" cy="0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543800" y="1463040"/>
            <a:ext cx="3886200" cy="4526280"/>
          </a:xfrm>
          <a:prstGeom prst="roundRect">
            <a:avLst>
              <a:gd name="adj" fmla="val 2824"/>
            </a:avLst>
          </a:prstGeom>
          <a:solidFill>
            <a:srgbClr val="EAF3FF"/>
          </a:solidFill>
          <a:ln w="12700">
            <a:solidFill>
              <a:srgbClr val="CBE0FF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86384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533"/>
                </a:solidFill>
              </a:rPr>
              <a:t>Sécurité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961120" y="2267712"/>
            <a:ext cx="1097280" cy="1097280"/>
          </a:xfrm>
          <a:prstGeom prst="ellipse">
            <a:avLst/>
          </a:prstGeom>
          <a:solidFill>
            <a:srgbClr val="1264F6"/>
          </a:solidFill>
          <a:ln w="12700">
            <a:solidFill>
              <a:srgbClr val="1264F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961120" y="2660904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TOKEN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909560" y="3703320"/>
            <a:ext cx="3017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</a:rPr>
              <a:t>• Laravel Sanctum pour générer un token unique</a:t>
            </a:r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</a:rPr>
              <a:t>• Routes API protégées pour les utilisateurs authentifiés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</a:rPr>
              <a:t>• Accès admin limité à la validation et gestion</a:t>
            </a:r>
            <a:endParaRPr lang="en-US" sz="1070" dirty="0"/>
          </a:p>
        </p:txBody>
      </p:sp>
      <p:pic>
        <p:nvPicPr>
          <p:cNvPr id="38" name="Picture 37" descr="Logo_ofppt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71533"/>
                </a:solidFill>
              </a:rPr>
              <a:t>Tests &amp; résultats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005840" cy="0"/>
          </a:xfrm>
          <a:prstGeom prst="line">
            <a:avLst/>
          </a:prstGeom>
          <a:noFill/>
          <a:ln w="38100">
            <a:solidFill>
              <a:srgbClr val="1264F6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0332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Les tests manuels et Postman confirment le bon fonctionnement de la solution.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Allo Mécanique • PFE OFPPT 2025–2026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A2BD"/>
                </a:solidFill>
              </a:rPr>
              <a:t>13/14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1264F6"/>
          </a:solidFill>
          <a:ln w="12700">
            <a:solidFill>
              <a:srgbClr val="1264F6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88720" y="17830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40280" y="18288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AF2FF"/>
                </a:solidFill>
              </a:rPr>
              <a:t>tests fonctionnels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40280" y="215798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E7FF"/>
                </a:solidFill>
              </a:rPr>
              <a:t>OK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071533"/>
          </a:solidFill>
          <a:ln w="12700">
            <a:solidFill>
              <a:srgbClr val="071533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92040" y="17830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0" y="18288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AF2FF"/>
                </a:solidFill>
              </a:rPr>
              <a:t>routes API testées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0" y="215798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E7FF"/>
                </a:solidFill>
              </a:rPr>
              <a:t>Succès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75320" y="150876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95360" y="17830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401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646920" y="18288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AF2FF"/>
                </a:solidFill>
              </a:rPr>
              <a:t>accès sans token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46920" y="215798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E7FF"/>
                </a:solidFill>
              </a:rPr>
              <a:t>Protégé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05840" y="3474720"/>
            <a:ext cx="10149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CF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325880" y="3749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533"/>
                </a:solidFill>
              </a:rPr>
              <a:t>Bilan des tests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160520"/>
            <a:ext cx="905256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Authentification fonctionnelle pour client, mécanicien et administrateur.</a:t>
            </a:r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Carte Leaflet affichée correctement sur Chrome, Firefox et Edge.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Flux complet : client soumet → mécanicien accepte/clôture → admin supervise.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Routes protégées : erreur 401 retournée sans token valide.</a:t>
            </a:r>
            <a:endParaRPr lang="en-US" sz="1150" dirty="0"/>
          </a:p>
        </p:txBody>
      </p:sp>
      <p:pic>
        <p:nvPicPr>
          <p:cNvPr id="22" name="Picture 21" descr="Logo_ofppt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4114800"/>
            <a:ext cx="3657600" cy="3657600"/>
          </a:xfrm>
          <a:prstGeom prst="arc">
            <a:avLst/>
          </a:prstGeom>
          <a:noFill/>
          <a:ln w="203200">
            <a:solidFill>
              <a:srgbClr val="1264F6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685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Conclusion &amp; perspectives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1143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178308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0E2752"/>
          </a:solidFill>
          <a:ln w="12700">
            <a:solidFill>
              <a:srgbClr val="203D73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51560" y="2057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Résultat obtenu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48716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6F0FF"/>
                </a:solidFill>
              </a:rPr>
              <a:t>Allo Mécanique est une plateforme web fonctionnelle qui répond à la problématique : connecter rapidement conducteurs en panne et mécaniciens disponibles.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0749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385A9A"/>
            </a:solidFill>
            <a:prstDash val="solid"/>
          </a:ln>
          <a:effectLst>
            <a:outerShdw sx="100000" sy="100000" kx="0" ky="0" algn="bl" rotWithShape="0" blurRad="25400" dist="50800" dir="2700000">
              <a:srgbClr val="DCE8F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1533"/>
                </a:solidFill>
              </a:rPr>
              <a:t>Améliorations futures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514600"/>
            <a:ext cx="438912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Notifications en temps réel avec WebSockets</a:t>
            </a:r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Messagerie directe client–mécanicien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Système de notes et avis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Application mobile ou PWA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• Paiement en ligne et statistiques avancées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Merci pour votre attention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C3E8"/>
                </a:solidFill>
              </a:rPr>
              <a:t>Houssam BOUKDIR &amp; Achraf FOUAD • Encadrant : Mr. Kamal DAOUDI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881360" y="63367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B7"/>
                </a:solidFill>
              </a:rPr>
              <a:t>14/14</a:t>
            </a:r>
            <a:endParaRPr lang="en-US" sz="800" dirty="0"/>
          </a:p>
        </p:txBody>
      </p:sp>
      <p:pic>
        <p:nvPicPr>
          <p:cNvPr id="15" name="Picture 14" descr="Logo_ofppt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1463040"/>
            <a:ext cx="11018520" cy="4480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D4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7680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B3165"/>
                </a:solidFill>
                <a:latin typeface="Aptos Display"/>
              </a:rP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005840" cy="36576"/>
          </a:xfrm>
          <a:prstGeom prst="rect">
            <a:avLst/>
          </a:prstGeom>
          <a:solidFill>
            <a:srgbClr val="126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8686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5C6A7C"/>
                </a:solidFill>
                <a:latin typeface="Aptos"/>
              </a:rPr>
              <a:t>Les chapitres principaux de la présentation Allo Mécanique.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783080"/>
            <a:ext cx="566928" cy="347472"/>
          </a:xfrm>
          <a:prstGeom prst="roundRect">
            <a:avLst/>
          </a:prstGeom>
          <a:solidFill>
            <a:srgbClr val="126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3352" y="1764792"/>
            <a:ext cx="4389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1F2937"/>
                </a:solidFill>
                <a:latin typeface="Aptos"/>
              </a:rPr>
              <a:t>Contexte &amp; problématique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350008"/>
            <a:ext cx="566928" cy="347472"/>
          </a:xfrm>
          <a:prstGeom prst="roundRect">
            <a:avLst/>
          </a:prstGeom>
          <a:solidFill>
            <a:srgbClr val="00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2" y="2331720"/>
            <a:ext cx="4389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1F2937"/>
                </a:solidFill>
                <a:latin typeface="Aptos"/>
              </a:rPr>
              <a:t>Objectifs du projet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916936"/>
            <a:ext cx="566928" cy="347472"/>
          </a:xfrm>
          <a:prstGeom prst="roundRect">
            <a:avLst/>
          </a:prstGeom>
          <a:solidFill>
            <a:srgbClr val="126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2898648"/>
            <a:ext cx="4389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1F2937"/>
                </a:solidFill>
                <a:latin typeface="Aptos"/>
              </a:rPr>
              <a:t>Solution proposée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483863"/>
            <a:ext cx="566928" cy="347472"/>
          </a:xfrm>
          <a:prstGeom prst="roundRect">
            <a:avLst/>
          </a:prstGeom>
          <a:solidFill>
            <a:srgbClr val="00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3465575"/>
            <a:ext cx="4389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1F2937"/>
                </a:solidFill>
                <a:latin typeface="Aptos"/>
              </a:rPr>
              <a:t>Architecture générale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050791"/>
            <a:ext cx="566928" cy="347472"/>
          </a:xfrm>
          <a:prstGeom prst="roundRect">
            <a:avLst/>
          </a:prstGeom>
          <a:solidFill>
            <a:srgbClr val="126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4032504"/>
            <a:ext cx="4389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1F2937"/>
                </a:solidFill>
                <a:latin typeface="Aptos"/>
              </a:rPr>
              <a:t>Technologies utilisées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617720"/>
            <a:ext cx="566928" cy="347472"/>
          </a:xfrm>
          <a:prstGeom prst="roundRect">
            <a:avLst/>
          </a:prstGeom>
          <a:solidFill>
            <a:srgbClr val="00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4599432"/>
            <a:ext cx="4389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1F2937"/>
                </a:solidFill>
                <a:latin typeface="Aptos"/>
              </a:rPr>
              <a:t>Analyse &amp; conception UML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783080"/>
            <a:ext cx="566928" cy="347472"/>
          </a:xfrm>
          <a:prstGeom prst="roundRect">
            <a:avLst/>
          </a:prstGeom>
          <a:solidFill>
            <a:srgbClr val="126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1764792"/>
            <a:ext cx="4389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1F2937"/>
                </a:solidFill>
                <a:latin typeface="Aptos"/>
              </a:rPr>
              <a:t>Scénarios principaux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350008"/>
            <a:ext cx="566928" cy="347472"/>
          </a:xfrm>
          <a:prstGeom prst="roundRect">
            <a:avLst/>
          </a:prstGeom>
          <a:solidFill>
            <a:srgbClr val="00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2331720"/>
            <a:ext cx="4389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1F2937"/>
                </a:solidFill>
                <a:latin typeface="Aptos"/>
              </a:rPr>
              <a:t>Interfaces utilisateur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916936"/>
            <a:ext cx="566928" cy="347472"/>
          </a:xfrm>
          <a:prstGeom prst="roundRect">
            <a:avLst/>
          </a:prstGeom>
          <a:solidFill>
            <a:srgbClr val="126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2898648"/>
            <a:ext cx="4389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1F2937"/>
                </a:solidFill>
                <a:latin typeface="Aptos"/>
              </a:rPr>
              <a:t>Fonctionnalités clés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483863"/>
            <a:ext cx="566928" cy="347472"/>
          </a:xfrm>
          <a:prstGeom prst="roundRect">
            <a:avLst/>
          </a:prstGeom>
          <a:solidFill>
            <a:srgbClr val="00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465575"/>
            <a:ext cx="4389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1F2937"/>
                </a:solidFill>
                <a:latin typeface="Aptos"/>
              </a:rPr>
              <a:t>API REST &amp; sécurité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050791"/>
            <a:ext cx="566928" cy="347472"/>
          </a:xfrm>
          <a:prstGeom prst="roundRect">
            <a:avLst/>
          </a:prstGeom>
          <a:solidFill>
            <a:srgbClr val="126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4032504"/>
            <a:ext cx="4389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1F2937"/>
                </a:solidFill>
                <a:latin typeface="Aptos"/>
              </a:rPr>
              <a:t>Tests &amp; résultats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617720"/>
            <a:ext cx="566928" cy="347472"/>
          </a:xfrm>
          <a:prstGeom prst="roundRect">
            <a:avLst/>
          </a:prstGeom>
          <a:solidFill>
            <a:srgbClr val="00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6872" y="4599432"/>
            <a:ext cx="4389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1F2937"/>
                </a:solidFill>
                <a:latin typeface="Aptos"/>
              </a:rPr>
              <a:t>Conclusion &amp; perspectives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4937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5C6A7C"/>
                </a:solidFill>
                <a:latin typeface="Aptos"/>
              </a:rPr>
              <a:t>Allo Mécanique • PFE OFPPT 2025–2026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5943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>
                <a:solidFill>
                  <a:srgbClr val="5C6A7C"/>
                </a:solidFill>
                <a:latin typeface="Aptos"/>
              </a:rPr>
              <a:t>02/14</a:t>
            </a:r>
          </a:p>
        </p:txBody>
      </p:sp>
      <p:pic>
        <p:nvPicPr>
          <p:cNvPr id="32" name="Picture 31" descr="Logo_ofppt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OFPPT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Allo Mécanique - PFE</dc:title>
  <dc:subject>PFE Allo Mécanique</dc:subject>
  <dc:creator>Achraf FOUAD</dc:creator>
  <cp:lastModifiedBy>Achraf FOUAD</cp:lastModifiedBy>
  <cp:revision>1</cp:revision>
  <dcterms:created xsi:type="dcterms:W3CDTF">2026-05-22T20:24:57Z</dcterms:created>
  <dcterms:modified xsi:type="dcterms:W3CDTF">2026-05-22T20:24:57Z</dcterms:modified>
</cp:coreProperties>
</file>